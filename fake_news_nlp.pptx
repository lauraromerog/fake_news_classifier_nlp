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first is a classical machine learning approach — TF-IDF features combined with a Linear SVC — which runs in about ten seconds on any laptop, no GPU required, and hits 96.66% accuracy.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second is a fine-tuned DistilBERT transformer model, which runs on Google Colab using a free T4 GPU in around less than 10 minutes, and pushes accuracy up to roughly 98%.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ae05c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ae05c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We'll start with the problem and dataset, then look at how I benchmarked different models before settling on a final approach for each notebook.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From there I'll walk through a key technical insight — character n-grams — that turned out to matter much more than I expected.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Then we'll go through each pipeline, and finish with the results side by side.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07c379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07c379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So, the task. Given a news headline, classify it as real or fake — labels 0 and 1 in the data.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Misinformation is a scale problem. It spreads faster than corrections can catch up, and manual fact-checking can't keep pace. An automated classifier that works at the headline level is a practical first line of defence.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dataset is tab-separated, no header, with the label in the first column and the headline in the second. We have 34,151 labeled training headlines and 9,983 unlabeled test headlines. The class split is approximately 50/50 — which is important, because it means plain accuracy is a reliable metric. We don't need weighted F1 or AUROC to correct for imbalance.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407c3795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407c3795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Before committing to any model, I ran a full benchmark across five configurations using five-fold stratified cross-validation on the training set.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baseline — word n-grams with Logistic Regression — landed at around 94.9%. Adding a soft-voting ensemble of three classifiers only moved the needle by 0.3 percentage points.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Swapping in character n-grams alongside the word features, by contrast, gave a jump of nearly 1.8 points — to 96.66% with a Linear SVC. That became Notebook 1.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For Notebook 2, I fine-tuned DistilBERT on the same data, using a held-out 10% validation split — the standard approach for transformer fine-tuning, since running five-fold CV would mean training five separate models. The result after just two epochs was 98.09% validation accuracy, a further gain of 1.52 percentage points over the best classical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07c3795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407c3795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Let me spend a moment on why character n-grams made such a difference, because it's the most counterintuitive finding in the project.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Word-level tokens are good at capturing what a headline is about — they'll pick up on names, entities, and topics. But they're completely blind to how the headline is written. And fake news has a very distinctive writing style.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Character n-grams between three and five characters long capture that style directly. ALL-CAPS bursts. Excessive exclamation marks. Sensationalist suffixes like "-gate". Non-standard spelling. None of those signals survive tokenisation at the word level, but they're all visible at the character level.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I used the char_wb analyzer rather than plain char. The difference is that char_wb pads word boundaries with spaces before extracting n-grams, so a 3-gram never accidentally spans two words. That makes the features much cleaner on short texts like headlines.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407c3795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407c3795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pipeline for Notebook 1 is built entirely in scikit-learn and has five stages.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Raw headlines come in from the tab-separated CSV, go through a lightweight cleaning step — lowercase, fix encoding artefacts, collapse whitespace — and then into a FeatureUnion that runs two TF-IDF vectorizers in parallel.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word vectorizer extracts 60,000 unigram and bigram features with log-normalised term frequencies. The character vectorizer extracts 40,000 trigram-to-5-gram features, again with log normalisation. Their outputs are horizontally concatenated to give a 100,000-dimensional sparse feature matrix.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That goes into a LinearSVC with a regularisation parameter C of 0.5 — mild L2 regularisation that outperforms C=1 by a small margin on this data.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whole thing trains in under 30 seconds on a standard laptop CPU. No GPU, no cloud resources, no dependencies beyond scikit-learn.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407c3795f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407c3795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Notebook 2 takes a fundamentally different approach. Instead of counting n-gram occurrences, I let a pre-trained transformer model read each headline as a sequence and build a contextual representation.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model is distilbert-base-uncased — a distilled version of BERT that's 40% smaller and 60% faster while retaining 97% of BERT's performance. The uncased variant is important: it lowercases input before tokenising, which is consistent with the cleaning step we already apply.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Headlines are tokenised with a maximum length of 64 tokens. Headlines in this dataset are all under 50 words, so 64 is a safe ceiling — and it's eight times smaller than BERT's default of 512, which means we can use a much larger batch size and train much faster.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Training runs for two epochs with a batch size of 32. We use 100 warmup steps to ramp up the learning rate gradually — this prevents large gradient updates from damaging the pre-trained weights before the randomly-initialised classification head has stabilised. Weight decay of 0.1 provides L2 regularisation.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model checkpoints after each epoch. At the end of training, the best checkpoint by validation loss is automatically restored. On a Colab T4 GPU, the whole thing takes about seven minutes.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407c3795f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407c3795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So, to close, here are the two approaches side by side.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Notebook 1 gives 96.67% accuracy measured on five-fold cross-validation, with a standard deviation of just 0.27 percentage points across folds — that's a very stable result. It runs in under 30 seconds, needs no GPU, runs locally in Jupyter, and is fully interpretable: you can inspect the LinearSVC coefficients and see exactly which n-grams drive each class.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Notebook 2 gives 98.19% validation accuracy after two epochs, a gain of 1.52 percentage points. It takes about seven minutes on a free Colab T4 GPU. The tradeoff is that it's a black box — you can't easily explain why a given headline was classified the way it was.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The right choice depends on your constraints. If you need something fast, interpretable, and runnable anywhere, Notebook 1 is the answer. If you need maximum accuracy and have a GPU available, Notebook 2 is the upgrade.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Both produce output in the same format — tab-separated, no header, predictions in the label column — so you can swap between them without changing anything downstream.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961250"/>
            <a:ext cx="9144000" cy="275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Fake News Headline Classifier (NLP Classification)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30313" y="4229075"/>
            <a:ext cx="21015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~ 98%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630388" y="3951275"/>
            <a:ext cx="2101500" cy="277800"/>
          </a:xfrm>
          <a:prstGeom prst="rect">
            <a:avLst/>
          </a:prstGeom>
          <a:solidFill>
            <a:srgbClr val="D878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DistilBERT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69963" y="4229075"/>
            <a:ext cx="21015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96,66 %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270038" y="3951275"/>
            <a:ext cx="2101500" cy="277800"/>
          </a:xfrm>
          <a:prstGeom prst="rect">
            <a:avLst/>
          </a:prstGeom>
          <a:solidFill>
            <a:srgbClr val="5FA7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TF-IDF - LinearSVC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098600" y="3951275"/>
            <a:ext cx="1532100" cy="943500"/>
          </a:xfrm>
          <a:prstGeom prst="rect">
            <a:avLst/>
          </a:prstGeom>
          <a:solidFill>
            <a:srgbClr val="D878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Context-aware representations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(10-12 min)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5625" y="3951275"/>
            <a:ext cx="1694400" cy="943500"/>
          </a:xfrm>
          <a:prstGeom prst="rect">
            <a:avLst/>
          </a:prstGeom>
          <a:solidFill>
            <a:srgbClr val="5FA7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Fully interpretable No GPU needed</a:t>
            </a:r>
            <a:b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s-419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(10-15 s)</a:t>
            </a: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725" y="4463300"/>
            <a:ext cx="365375" cy="3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100" y="4405925"/>
            <a:ext cx="472999" cy="4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729450" y="621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Agenda</a:t>
            </a:r>
            <a:endParaRPr sz="1840"/>
          </a:p>
        </p:txBody>
      </p:sp>
      <p:sp>
        <p:nvSpPr>
          <p:cNvPr id="100" name="Google Shape;100;p14"/>
          <p:cNvSpPr/>
          <p:nvPr/>
        </p:nvSpPr>
        <p:spPr>
          <a:xfrm>
            <a:off x="1060025" y="1392526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060025" y="1392526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077275" y="1616450"/>
            <a:ext cx="503100" cy="52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672250" y="1392525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Problem &amp; Dataset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643818" y="1392526"/>
            <a:ext cx="3359700" cy="970500"/>
          </a:xfrm>
          <a:prstGeom prst="rect">
            <a:avLst/>
          </a:prstGeom>
          <a:solidFill>
            <a:schemeClr val="lt1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643818" y="1392526"/>
            <a:ext cx="537600" cy="970500"/>
          </a:xfrm>
          <a:prstGeom prst="rect">
            <a:avLst/>
          </a:prstGeom>
          <a:solidFill>
            <a:srgbClr val="D8782E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643825" y="1616525"/>
            <a:ext cx="503100" cy="522600"/>
          </a:xfrm>
          <a:prstGeom prst="rect">
            <a:avLst/>
          </a:prstGeom>
          <a:solidFill>
            <a:srgbClr val="D878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256050" y="1392552"/>
            <a:ext cx="26505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Model Benchmarking</a:t>
            </a:r>
            <a:endParaRPr b="1" sz="1143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060025" y="2527394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060025" y="2527394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60025" y="2751382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672250" y="2527350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Character N-grams</a:t>
            </a:r>
            <a:endParaRPr b="1" sz="1143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643818" y="2527394"/>
            <a:ext cx="3359700" cy="970500"/>
          </a:xfrm>
          <a:prstGeom prst="rect">
            <a:avLst/>
          </a:prstGeom>
          <a:solidFill>
            <a:schemeClr val="lt1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4643818" y="2527394"/>
            <a:ext cx="537600" cy="970500"/>
          </a:xfrm>
          <a:prstGeom prst="rect">
            <a:avLst/>
          </a:prstGeom>
          <a:solidFill>
            <a:srgbClr val="D8782E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643824" y="2751375"/>
            <a:ext cx="503100" cy="522600"/>
          </a:xfrm>
          <a:prstGeom prst="rect">
            <a:avLst/>
          </a:prstGeom>
          <a:solidFill>
            <a:srgbClr val="D878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256050" y="2527349"/>
            <a:ext cx="26505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Notebook 1: TF-IDF Pipeline</a:t>
            </a:r>
            <a:endParaRPr b="1" sz="1143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060025" y="3662263"/>
            <a:ext cx="3359700" cy="970500"/>
          </a:xfrm>
          <a:prstGeom prst="rect">
            <a:avLst/>
          </a:prstGeom>
          <a:solidFill>
            <a:srgbClr val="FFFFFF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060025" y="3662263"/>
            <a:ext cx="537600" cy="970500"/>
          </a:xfrm>
          <a:prstGeom prst="rect">
            <a:avLst/>
          </a:prstGeom>
          <a:solidFill>
            <a:schemeClr val="dk1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1060025" y="3886250"/>
            <a:ext cx="5376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05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672250" y="3662278"/>
            <a:ext cx="2650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Notebook 2: DistilBERT Fine-tuning</a:t>
            </a:r>
            <a:endParaRPr b="1" sz="1143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643818" y="3662263"/>
            <a:ext cx="3359700" cy="970500"/>
          </a:xfrm>
          <a:prstGeom prst="rect">
            <a:avLst/>
          </a:prstGeom>
          <a:solidFill>
            <a:schemeClr val="lt1"/>
          </a:solidFill>
          <a:ln cap="flat" cmpd="sng" w="7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82958" rotWithShape="0" algn="bl" dir="8100000" dist="31109">
              <a:srgbClr val="000000">
                <a:alpha val="10200"/>
              </a:srgbClr>
            </a:outerShdw>
          </a:effectLst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643818" y="3662263"/>
            <a:ext cx="537600" cy="970500"/>
          </a:xfrm>
          <a:prstGeom prst="rect">
            <a:avLst/>
          </a:prstGeom>
          <a:solidFill>
            <a:srgbClr val="D8782E"/>
          </a:solidFill>
          <a:ln cap="flat" cmpd="sng" w="103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643824" y="3886250"/>
            <a:ext cx="503100" cy="522600"/>
          </a:xfrm>
          <a:prstGeom prst="rect">
            <a:avLst/>
          </a:prstGeom>
          <a:solidFill>
            <a:srgbClr val="D878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96"/>
              <a:buFont typeface="Calibri"/>
              <a:buNone/>
            </a:pPr>
            <a:r>
              <a:rPr b="1" i="0" lang="es-419" sz="1796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06</a:t>
            </a:r>
            <a:endParaRPr i="0" sz="1796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256050" y="3662251"/>
            <a:ext cx="2650500" cy="9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43"/>
              <a:buFont typeface="Calibri"/>
              <a:buNone/>
            </a:pPr>
            <a:r>
              <a:rPr b="1" lang="es-419" sz="1143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Results &amp; Summary</a:t>
            </a:r>
            <a:endParaRPr i="0" sz="114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1.	Problem &amp; Dataset</a:t>
            </a:r>
            <a:endParaRPr sz="1840"/>
          </a:p>
        </p:txBody>
      </p:sp>
      <p:sp>
        <p:nvSpPr>
          <p:cNvPr id="129" name="Google Shape;129;p15"/>
          <p:cNvSpPr/>
          <p:nvPr/>
        </p:nvSpPr>
        <p:spPr>
          <a:xfrm>
            <a:off x="367560" y="1293825"/>
            <a:ext cx="39318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67550" y="1293825"/>
            <a:ext cx="39318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s-419" sz="16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The Challenge</a:t>
            </a:r>
            <a:endParaRPr i="0" sz="1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50440" y="2025345"/>
            <a:ext cx="356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300"/>
              <a:buFont typeface="Calibri"/>
              <a:buNone/>
            </a:pPr>
            <a:r>
              <a:rPr i="0" lang="es-419" sz="13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Classify news headlines as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2DC653"/>
                </a:solidFill>
                <a:latin typeface="Raleway"/>
                <a:ea typeface="Raleway"/>
                <a:cs typeface="Raleway"/>
                <a:sym typeface="Raleway"/>
              </a:rPr>
              <a:t>REAL  </a:t>
            </a:r>
            <a:r>
              <a:rPr i="0" lang="es-419" sz="13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b="1" i="0" lang="es-419" sz="1300" u="none" cap="none" strike="noStrike">
                <a:solidFill>
                  <a:srgbClr val="E63946"/>
                </a:solidFill>
                <a:latin typeface="Raleway"/>
                <a:ea typeface="Raleway"/>
                <a:cs typeface="Raleway"/>
                <a:sym typeface="Raleway"/>
              </a:rPr>
              <a:t>FAKE</a:t>
            </a:r>
            <a:r>
              <a:rPr i="0" lang="es-419" sz="13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 automatically.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50440" y="2756865"/>
            <a:ext cx="3566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i="0" lang="es-419" sz="12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Misinformation spreads faster than corrections.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i="0" lang="es-419" sz="12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Automated detection at scale is critical for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platform integrity</a:t>
            </a:r>
            <a:r>
              <a:rPr i="0" lang="es-419" sz="12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 and public trust.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50440" y="4311345"/>
            <a:ext cx="3566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1100"/>
              <a:buFont typeface="Calibri"/>
              <a:buNone/>
            </a:pPr>
            <a:r>
              <a:rPr b="1" i="1" lang="es-419" sz="1100" u="none" cap="none" strike="noStrike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Two notebooks available: one for each approach.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665240" y="1293825"/>
            <a:ext cx="41148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4665350" y="1293825"/>
            <a:ext cx="4114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s-419" sz="16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Dataset</a:t>
            </a:r>
            <a:endParaRPr i="0" sz="1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848120" y="2071065"/>
            <a:ext cx="3749100" cy="749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4893840" y="2068835"/>
            <a:ext cx="1188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2200"/>
              <a:buFont typeface="Calibri"/>
              <a:buNone/>
            </a:pPr>
            <a:r>
              <a:rPr b="1" i="0" lang="es-419" sz="2200" u="none" cap="none" strike="noStrike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34,151</a:t>
            </a:r>
            <a:endParaRPr i="0" sz="2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183855" y="2068835"/>
            <a:ext cx="2377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200"/>
              <a:buFont typeface="Calibri"/>
              <a:buNone/>
            </a:pPr>
            <a:r>
              <a:rPr i="0" lang="es-419" sz="12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Training headlines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848120" y="2967177"/>
            <a:ext cx="3749100" cy="749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4893840" y="2980909"/>
            <a:ext cx="1188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2200"/>
              <a:buFont typeface="Calibri"/>
              <a:buNone/>
            </a:pPr>
            <a:r>
              <a:rPr b="1" i="0" lang="es-419" sz="2200" u="none" cap="none" strike="noStrike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9,983</a:t>
            </a:r>
            <a:endParaRPr i="0" sz="2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219730" y="2980909"/>
            <a:ext cx="2377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200"/>
              <a:buFont typeface="Calibri"/>
              <a:buNone/>
            </a:pPr>
            <a:r>
              <a:rPr i="0" lang="es-419" sz="12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Test headlines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848120" y="3863289"/>
            <a:ext cx="3749100" cy="749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4870900" y="3858713"/>
            <a:ext cx="1234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s-419" sz="2200" u="none" cap="none" strike="noStrike">
                <a:solidFill>
                  <a:srgbClr val="F4A261"/>
                </a:solidFill>
                <a:latin typeface="Raleway"/>
                <a:ea typeface="Raleway"/>
                <a:cs typeface="Raleway"/>
                <a:sym typeface="Raleway"/>
              </a:rPr>
              <a:t>≈ 50/50</a:t>
            </a:r>
            <a:endParaRPr i="0" sz="2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219730" y="3851859"/>
            <a:ext cx="2377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200"/>
              <a:buFont typeface="Calibri"/>
              <a:buNone/>
            </a:pPr>
            <a:r>
              <a:rPr i="0" lang="es-419" sz="12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Class balance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848120" y="472282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900"/>
              <a:buFont typeface="Calibri"/>
              <a:buNone/>
            </a:pPr>
            <a:r>
              <a:rPr i="1" lang="es-419" sz="9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Format: tab-separated · no header · label \t headline</a:t>
            </a:r>
            <a:endParaRPr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254635" y="121980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7F77DD"/>
                </a:solidFill>
                <a:latin typeface="Raleway"/>
                <a:ea typeface="Raleway"/>
                <a:cs typeface="Raleway"/>
                <a:sym typeface="Raleway"/>
              </a:rPr>
              <a:t>5-Fold Stratified CV (sklearn) · Validation Set (DistilBERT) · Full Training Set</a:t>
            </a:r>
            <a:endParaRPr b="1" i="0" sz="1200" u="none" cap="none" strike="noStrike">
              <a:solidFill>
                <a:srgbClr val="7F77D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832375" y="1776475"/>
            <a:ext cx="2834700" cy="1465200"/>
          </a:xfrm>
          <a:prstGeom prst="rect">
            <a:avLst/>
          </a:prstGeom>
          <a:solidFill>
            <a:srgbClr val="5FA7EC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32375" y="1855688"/>
            <a:ext cx="2834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TF-IDF + SVC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969535" y="2212041"/>
            <a:ext cx="265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96.6</a:t>
            </a:r>
            <a:r>
              <a:rPr b="1" lang="es-419" sz="3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r>
              <a:rPr b="1" i="0" lang="es-419" sz="3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%</a:t>
            </a:r>
            <a:endParaRPr i="0" sz="3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969535" y="2726801"/>
            <a:ext cx="265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5-fold CV</a:t>
            </a:r>
            <a:endParaRPr b="1" i="0" sz="10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832325" y="3505874"/>
            <a:ext cx="2834700" cy="1465200"/>
          </a:xfrm>
          <a:prstGeom prst="rect">
            <a:avLst/>
          </a:prstGeom>
          <a:solidFill>
            <a:srgbClr val="D8782E"/>
          </a:solidFill>
          <a:ln cap="flat" cmpd="sng" w="12700">
            <a:solidFill>
              <a:srgbClr val="2A1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832375" y="3505875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DistilBERT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969480" y="3738715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7DD"/>
              </a:buClr>
              <a:buSzPts val="3400"/>
              <a:buFont typeface="Calibri"/>
              <a:buNone/>
            </a:pPr>
            <a:r>
              <a:rPr b="1" i="0" lang="es-419" sz="3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98.</a:t>
            </a:r>
            <a:r>
              <a:rPr b="1" lang="es-419" sz="3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09</a:t>
            </a:r>
            <a:r>
              <a:rPr b="1" i="0" lang="es-419" sz="3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%</a:t>
            </a:r>
            <a:endParaRPr i="0" sz="3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969480" y="433307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 accuracy · 2 epochs</a:t>
            </a:r>
            <a:endParaRPr b="1" i="0" sz="10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969480" y="460739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7DD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+1.52 pp over TF-IDF</a:t>
            </a:r>
            <a:endParaRPr b="1" i="0" sz="10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1538395"/>
            <a:ext cx="5573395" cy="1941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925" y="3684511"/>
            <a:ext cx="4478374" cy="110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2</a:t>
            </a:r>
            <a:r>
              <a:rPr lang="es-419" sz="1840"/>
              <a:t>.	</a:t>
            </a:r>
            <a:r>
              <a:rPr lang="es-419" sz="1840"/>
              <a:t>Model Benchmarking</a:t>
            </a:r>
            <a:endParaRPr sz="18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3</a:t>
            </a:r>
            <a:r>
              <a:rPr lang="es-419" sz="1840"/>
              <a:t>.	</a:t>
            </a:r>
            <a:r>
              <a:rPr lang="es-419" sz="1840"/>
              <a:t>Character N-grams</a:t>
            </a:r>
            <a:endParaRPr sz="1840"/>
          </a:p>
        </p:txBody>
      </p:sp>
      <p:sp>
        <p:nvSpPr>
          <p:cNvPr id="168" name="Google Shape;168;p17"/>
          <p:cNvSpPr/>
          <p:nvPr/>
        </p:nvSpPr>
        <p:spPr>
          <a:xfrm>
            <a:off x="411510" y="164239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11510" y="1642390"/>
            <a:ext cx="2651700" cy="639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50" y="180698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548545" y="255679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Word N-grams miss style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48670" y="3151150"/>
            <a:ext cx="23775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Word tokens capture topic ("Hillary", "FBI") but ignore HOW the headline is written — its rhythm, casing, and punctuation.</a:t>
            </a:r>
            <a:endParaRPr i="0" sz="1100" u="none" cap="none" strike="noStrike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246150" y="164239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246150" y="1642390"/>
            <a:ext cx="2651700" cy="63900"/>
          </a:xfrm>
          <a:prstGeom prst="rect">
            <a:avLst/>
          </a:prstGeom>
          <a:solidFill>
            <a:srgbClr val="1A8C8C"/>
          </a:solidFill>
          <a:ln cap="flat" cmpd="sng" w="12700">
            <a:solidFill>
              <a:srgbClr val="1A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90" y="180698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3383310" y="255679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Char N-grams catch signals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383310" y="3151150"/>
            <a:ext cx="23775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3–5 char slices capture ALL-CAPS bursts, exclamation runs ("!!!"), sensationalist suffixes ("-gate"), and non-standard spelling.</a:t>
            </a:r>
            <a:endParaRPr i="0" sz="1100" u="none" cap="none" strike="noStrike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080790" y="1642390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080790" y="1642390"/>
            <a:ext cx="2651700" cy="639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6630" y="1806982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6217950" y="255679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s-419" sz="13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char_wb respects words</a:t>
            </a:r>
            <a:endParaRPr i="0" sz="13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217950" y="3151150"/>
            <a:ext cx="23775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The char_wb analyzer pads word boundaries with spaces, so char n-grams don't bleed across word edges — ideal for short texts.</a:t>
            </a:r>
            <a:endParaRPr i="0" sz="1100" u="none" cap="none" strike="noStrike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4</a:t>
            </a:r>
            <a:r>
              <a:rPr lang="es-419" sz="1840"/>
              <a:t>.	</a:t>
            </a:r>
            <a:r>
              <a:rPr lang="es-419" sz="1840"/>
              <a:t>Notebook 1: TF-IDF Pipeline</a:t>
            </a:r>
            <a:endParaRPr sz="1840"/>
          </a:p>
        </p:txBody>
      </p:sp>
      <p:sp>
        <p:nvSpPr>
          <p:cNvPr id="188" name="Google Shape;188;p18"/>
          <p:cNvSpPr/>
          <p:nvPr/>
        </p:nvSpPr>
        <p:spPr>
          <a:xfrm>
            <a:off x="457210" y="121134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7F77DD"/>
                </a:solidFill>
                <a:latin typeface="Raleway"/>
                <a:ea typeface="Raleway"/>
                <a:cs typeface="Raleway"/>
                <a:sym typeface="Raleway"/>
              </a:rPr>
              <a:t>sklearn · No GPU · Trains in &lt; 30s · Fully interpretable</a:t>
            </a:r>
            <a:endParaRPr b="1" i="0" sz="1200" u="none" cap="none" strike="noStrike">
              <a:solidFill>
                <a:srgbClr val="7F77D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67545" y="1586545"/>
            <a:ext cx="1371600" cy="1188600"/>
          </a:xfrm>
          <a:prstGeom prst="rect">
            <a:avLst/>
          </a:prstGeom>
          <a:solidFill>
            <a:srgbClr val="5FA7EC"/>
          </a:solidFill>
          <a:ln cap="flat" cmpd="sng" w="12700">
            <a:solidFill>
              <a:srgbClr val="5FA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13265" y="1659697"/>
            <a:ext cx="1280100" cy="548700"/>
          </a:xfrm>
          <a:prstGeom prst="rect">
            <a:avLst/>
          </a:prstGeom>
          <a:solidFill>
            <a:srgbClr val="5FA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Raw Headline</a:t>
            </a:r>
            <a:endParaRPr b="1"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13265" y="2180905"/>
            <a:ext cx="1280100" cy="502800"/>
          </a:xfrm>
          <a:prstGeom prst="rect">
            <a:avLst/>
          </a:prstGeom>
          <a:solidFill>
            <a:srgbClr val="5FA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Tab-sep CSV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995177" y="1586545"/>
            <a:ext cx="1554600" cy="1188600"/>
          </a:xfrm>
          <a:prstGeom prst="rect">
            <a:avLst/>
          </a:prstGeom>
          <a:solidFill>
            <a:srgbClr val="5FA7EC"/>
          </a:solidFill>
          <a:ln cap="flat" cmpd="sng" w="12700">
            <a:solidFill>
              <a:srgbClr val="5FA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040897" y="1659697"/>
            <a:ext cx="1463100" cy="548700"/>
          </a:xfrm>
          <a:prstGeom prst="rect">
            <a:avLst/>
          </a:prstGeom>
          <a:solidFill>
            <a:srgbClr val="5FA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Clean Text</a:t>
            </a:r>
            <a:endParaRPr b="1"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040897" y="2180905"/>
            <a:ext cx="1463100" cy="502800"/>
          </a:xfrm>
          <a:prstGeom prst="rect">
            <a:avLst/>
          </a:prstGeom>
          <a:solidFill>
            <a:srgbClr val="5FA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Lowercase · fix encoding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805689" y="1586545"/>
            <a:ext cx="1828800" cy="1188600"/>
          </a:xfrm>
          <a:prstGeom prst="rect">
            <a:avLst/>
          </a:prstGeom>
          <a:solidFill>
            <a:srgbClr val="0F6B6B"/>
          </a:solidFill>
          <a:ln cap="flat" cmpd="sng" w="12700">
            <a:solidFill>
              <a:srgbClr val="0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851409" y="1659697"/>
            <a:ext cx="1737300" cy="5487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FeatureUnion</a:t>
            </a:r>
            <a:endParaRPr b="1"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851409" y="2180905"/>
            <a:ext cx="1737300" cy="502800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Word (1-2g) + Char (3-5g)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890521" y="1586545"/>
            <a:ext cx="1371600" cy="1188600"/>
          </a:xfrm>
          <a:prstGeom prst="rect">
            <a:avLst/>
          </a:prstGeom>
          <a:solidFill>
            <a:srgbClr val="1A8C8C"/>
          </a:solidFill>
          <a:ln cap="flat" cmpd="sng" w="12700">
            <a:solidFill>
              <a:srgbClr val="0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936241" y="1659697"/>
            <a:ext cx="128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LinearSVC</a:t>
            </a:r>
            <a:endParaRPr b="1"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936241" y="2180905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C=0.5 · L2 margin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518153" y="1586545"/>
            <a:ext cx="1051500" cy="118860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0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7563873" y="1659697"/>
            <a:ext cx="96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 / 1</a:t>
            </a:r>
            <a:endParaRPr b="1"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563873" y="2180905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Fake / Real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13265" y="3049585"/>
            <a:ext cx="4160400" cy="54900"/>
          </a:xfrm>
          <a:prstGeom prst="rect">
            <a:avLst/>
          </a:prstGeom>
          <a:solidFill>
            <a:srgbClr val="1A8C8C"/>
          </a:solidFill>
          <a:ln cap="flat" cmpd="sng" w="12700">
            <a:solidFill>
              <a:srgbClr val="1A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13265" y="3095305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FeatureUnion Details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13265" y="3461065"/>
            <a:ext cx="4160400" cy="6219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50425" y="3497641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B0B0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25B0B0"/>
                </a:solidFill>
                <a:latin typeface="Raleway"/>
                <a:ea typeface="Raleway"/>
                <a:cs typeface="Raleway"/>
                <a:sym typeface="Raleway"/>
              </a:rPr>
              <a:t>TfidfVectorizer (word)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50425" y="3753673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i="0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ngram_range=(1,2) · max_features=60,000 · sublinear_tf=True · min_df=2</a:t>
            </a:r>
            <a:endParaRPr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13265" y="4302297"/>
            <a:ext cx="4160400" cy="6219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1B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27675" y="432539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B0B0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25B0B0"/>
                </a:solidFill>
                <a:latin typeface="Raleway"/>
                <a:ea typeface="Raleway"/>
                <a:cs typeface="Raleway"/>
                <a:sym typeface="Raleway"/>
              </a:rPr>
              <a:t>TfidfVectorizer (char_wb)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27675" y="458143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i="0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ngram_range=(3,5) · max_features=40,000 · sublinear_tf=True · min_df=3</a:t>
            </a:r>
            <a:endParaRPr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939545" y="3049585"/>
            <a:ext cx="3977700" cy="54900"/>
          </a:xfrm>
          <a:prstGeom prst="rect">
            <a:avLst/>
          </a:prstGeom>
          <a:solidFill>
            <a:srgbClr val="1A8C8C"/>
          </a:solidFill>
          <a:ln cap="flat" cmpd="sng" w="12700">
            <a:solidFill>
              <a:srgbClr val="1A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939545" y="3095305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LinearSVC Details</a:t>
            </a:r>
            <a:endParaRPr b="1" sz="1100">
              <a:solidFill>
                <a:srgbClr val="1A8C8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076800" y="3378899"/>
            <a:ext cx="137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C: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448400" y="3378899"/>
            <a:ext cx="233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0.5  (L2 regularisation)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076800" y="3778507"/>
            <a:ext cx="137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max_iter: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448400" y="3778507"/>
            <a:ext cx="233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2000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076800" y="4178115"/>
            <a:ext cx="137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Total feats: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448400" y="4178115"/>
            <a:ext cx="233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100,000 (60k word + 40k char)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5076800" y="4577722"/>
            <a:ext cx="137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Training time: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448400" y="4577722"/>
            <a:ext cx="2331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&lt; 30s on CPU</a:t>
            </a:r>
            <a:endParaRPr i="0" sz="11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2" name="Google Shape;222;p18"/>
          <p:cNvCxnSpPr>
            <a:endCxn id="192" idx="1"/>
          </p:cNvCxnSpPr>
          <p:nvPr/>
        </p:nvCxnSpPr>
        <p:spPr>
          <a:xfrm>
            <a:off x="1739277" y="2180845"/>
            <a:ext cx="2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8"/>
          <p:cNvCxnSpPr>
            <a:endCxn id="195" idx="1"/>
          </p:cNvCxnSpPr>
          <p:nvPr/>
        </p:nvCxnSpPr>
        <p:spPr>
          <a:xfrm>
            <a:off x="3549789" y="2180845"/>
            <a:ext cx="2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18"/>
          <p:cNvCxnSpPr>
            <a:stCxn id="195" idx="3"/>
            <a:endCxn id="198" idx="1"/>
          </p:cNvCxnSpPr>
          <p:nvPr/>
        </p:nvCxnSpPr>
        <p:spPr>
          <a:xfrm>
            <a:off x="5634489" y="2180845"/>
            <a:ext cx="2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8"/>
          <p:cNvCxnSpPr>
            <a:stCxn id="198" idx="3"/>
            <a:endCxn id="201" idx="1"/>
          </p:cNvCxnSpPr>
          <p:nvPr/>
        </p:nvCxnSpPr>
        <p:spPr>
          <a:xfrm>
            <a:off x="7262121" y="2180845"/>
            <a:ext cx="2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5</a:t>
            </a:r>
            <a:r>
              <a:rPr lang="es-419" sz="1840"/>
              <a:t>.	</a:t>
            </a:r>
            <a:r>
              <a:rPr lang="es-419" sz="1840"/>
              <a:t>Notebook 2: DistilBERT Fine-tuning</a:t>
            </a:r>
            <a:endParaRPr sz="1840"/>
          </a:p>
        </p:txBody>
      </p:sp>
      <p:sp>
        <p:nvSpPr>
          <p:cNvPr id="231" name="Google Shape;231;p19"/>
          <p:cNvSpPr/>
          <p:nvPr/>
        </p:nvSpPr>
        <p:spPr>
          <a:xfrm>
            <a:off x="411447" y="124505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7F77DD"/>
                </a:solidFill>
                <a:latin typeface="Raleway"/>
                <a:ea typeface="Raleway"/>
                <a:cs typeface="Raleway"/>
                <a:sym typeface="Raleway"/>
              </a:rPr>
              <a:t>HuggingFace Transformers · Google Colab T4 GPU · ~7 min training · 98.19% val accuracy</a:t>
            </a:r>
            <a:endParaRPr b="1" i="0" sz="1200" u="none" cap="none" strike="noStrike">
              <a:solidFill>
                <a:srgbClr val="7F77D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937288" y="1653970"/>
            <a:ext cx="1280100" cy="1188600"/>
          </a:xfrm>
          <a:prstGeom prst="rect">
            <a:avLst/>
          </a:prstGeom>
          <a:solidFill>
            <a:srgbClr val="D8782E"/>
          </a:solidFill>
          <a:ln cap="flat" cmpd="sng" w="12700">
            <a:solidFill>
              <a:srgbClr val="D878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983008" y="1727122"/>
            <a:ext cx="118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Raw Headline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983008" y="2248330"/>
            <a:ext cx="118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Tab-sep CSV</a:t>
            </a:r>
            <a:endParaRPr b="1" i="0" sz="900" u="none" cap="none" strike="noStrike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2446048" y="1653970"/>
            <a:ext cx="1280100" cy="1188600"/>
          </a:xfrm>
          <a:prstGeom prst="rect">
            <a:avLst/>
          </a:prstGeom>
          <a:solidFill>
            <a:srgbClr val="D8782E"/>
          </a:solidFill>
          <a:ln cap="flat" cmpd="sng" w="12700">
            <a:solidFill>
              <a:srgbClr val="D878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2491767" y="1727122"/>
            <a:ext cx="118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Tokenizer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491767" y="2248330"/>
            <a:ext cx="118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1E2761"/>
                </a:solidFill>
                <a:latin typeface="Raleway"/>
                <a:ea typeface="Raleway"/>
                <a:cs typeface="Raleway"/>
                <a:sym typeface="Raleway"/>
              </a:rPr>
              <a:t>max_length=64</a:t>
            </a:r>
            <a:endParaRPr b="1" i="0" sz="900" u="none" cap="none" strike="noStrike">
              <a:solidFill>
                <a:srgbClr val="1E276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954808" y="1653970"/>
            <a:ext cx="1463100" cy="11886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000528" y="1727122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DistilBERT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000528" y="2248330"/>
            <a:ext cx="137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distilbert-base</a:t>
            </a:r>
            <a:endParaRPr b="1"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uncased</a:t>
            </a:r>
            <a:endParaRPr b="1"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5646447" y="1653970"/>
            <a:ext cx="1280100" cy="11886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692168" y="1727122"/>
            <a:ext cx="118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Classifier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Head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692168" y="2248330"/>
            <a:ext cx="118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2-class linear</a:t>
            </a:r>
            <a:endParaRPr b="1"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7155208" y="1653970"/>
            <a:ext cx="1051500" cy="118860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7200927" y="1727122"/>
            <a:ext cx="960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0 / 1</a:t>
            </a:r>
            <a:endParaRPr b="1"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7200927" y="224833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1" i="0" lang="es-419" sz="900" u="none" cap="none" strike="noStrike">
                <a:solidFill>
                  <a:srgbClr val="CBD5E1"/>
                </a:solidFill>
                <a:latin typeface="Raleway"/>
                <a:ea typeface="Raleway"/>
                <a:cs typeface="Raleway"/>
                <a:sym typeface="Raleway"/>
              </a:rPr>
              <a:t>Fake / Real</a:t>
            </a:r>
            <a:endParaRPr b="1" i="0" sz="9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251408" y="2931410"/>
            <a:ext cx="4206300" cy="549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D878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51408" y="2977130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7DD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D8782E"/>
                </a:solidFill>
                <a:latin typeface="Raleway"/>
                <a:ea typeface="Raleway"/>
                <a:cs typeface="Raleway"/>
                <a:sym typeface="Raleway"/>
              </a:rPr>
              <a:t>Training Configuration</a:t>
            </a:r>
            <a:endParaRPr b="1" i="0" sz="1100" u="none" cap="none" strike="noStrike">
              <a:solidFill>
                <a:srgbClr val="D8782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88575" y="3342900"/>
            <a:ext cx="1417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000"/>
              <a:buFont typeface="Calibri"/>
              <a:buNone/>
            </a:pPr>
            <a:r>
              <a:rPr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Epochs: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1851606" y="3342900"/>
            <a:ext cx="246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  (best val at epoch 2)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88575" y="3654977"/>
            <a:ext cx="1417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000"/>
              <a:buFont typeface="Calibri"/>
              <a:buNone/>
            </a:pPr>
            <a:r>
              <a:rPr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Batch size: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1851606" y="3654977"/>
            <a:ext cx="246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32 train · 64 eval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88575" y="3967054"/>
            <a:ext cx="1417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000"/>
              <a:buFont typeface="Calibri"/>
              <a:buNone/>
            </a:pPr>
            <a:r>
              <a:rPr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Warmup steps: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851606" y="3967054"/>
            <a:ext cx="246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100  (LR ramp-up)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88575" y="4279132"/>
            <a:ext cx="1417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000"/>
              <a:buFont typeface="Calibri"/>
              <a:buNone/>
            </a:pPr>
            <a:r>
              <a:rPr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Weight decay: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851606" y="4279132"/>
            <a:ext cx="246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0.1  (L2 regularisation)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388575" y="4591209"/>
            <a:ext cx="1417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000"/>
              <a:buFont typeface="Calibri"/>
              <a:buNone/>
            </a:pPr>
            <a:r>
              <a:rPr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Eval strategy: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851606" y="4591209"/>
            <a:ext cx="246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per epoch · load best at end</a:t>
            </a:r>
            <a:endParaRPr i="0" sz="1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4823408" y="2931410"/>
            <a:ext cx="3977700" cy="549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D878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823408" y="297713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7DD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D8782E"/>
                </a:solidFill>
                <a:latin typeface="Raleway"/>
                <a:ea typeface="Raleway"/>
                <a:cs typeface="Raleway"/>
                <a:sym typeface="Raleway"/>
              </a:rPr>
              <a:t>Training Results</a:t>
            </a:r>
            <a:endParaRPr i="0" sz="1100" u="none" cap="none" strike="noStrike">
              <a:solidFill>
                <a:srgbClr val="D8782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823408" y="4586490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900"/>
              <a:buFont typeface="Calibri"/>
              <a:buNone/>
            </a:pPr>
            <a:r>
              <a:rPr b="1" i="1" lang="es-419" sz="9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GPU training time: ~7 min on Colab T4  ·  max_length=64 (headlines are short)</a:t>
            </a:r>
            <a:endParaRPr b="1" i="0" sz="9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62" name="Google Shape;262;p19"/>
          <p:cNvCxnSpPr>
            <a:endCxn id="235" idx="1"/>
          </p:cNvCxnSpPr>
          <p:nvPr/>
        </p:nvCxnSpPr>
        <p:spPr>
          <a:xfrm>
            <a:off x="2217448" y="224827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19"/>
          <p:cNvCxnSpPr>
            <a:stCxn id="235" idx="3"/>
            <a:endCxn id="238" idx="1"/>
          </p:cNvCxnSpPr>
          <p:nvPr/>
        </p:nvCxnSpPr>
        <p:spPr>
          <a:xfrm>
            <a:off x="3726148" y="224827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19"/>
          <p:cNvCxnSpPr>
            <a:stCxn id="238" idx="3"/>
            <a:endCxn id="241" idx="1"/>
          </p:cNvCxnSpPr>
          <p:nvPr/>
        </p:nvCxnSpPr>
        <p:spPr>
          <a:xfrm>
            <a:off x="5417908" y="224827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19"/>
          <p:cNvCxnSpPr>
            <a:stCxn id="241" idx="3"/>
            <a:endCxn id="244" idx="1"/>
          </p:cNvCxnSpPr>
          <p:nvPr/>
        </p:nvCxnSpPr>
        <p:spPr>
          <a:xfrm>
            <a:off x="6926548" y="224827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6" name="Google Shape;2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077" y="3463527"/>
            <a:ext cx="3688350" cy="9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/>
          <p:nvPr>
            <p:ph type="title"/>
          </p:nvPr>
        </p:nvSpPr>
        <p:spPr>
          <a:xfrm>
            <a:off x="367550" y="621025"/>
            <a:ext cx="877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1840"/>
              <a:t>6.	Results &amp; Summary</a:t>
            </a:r>
            <a:endParaRPr sz="1840"/>
          </a:p>
        </p:txBody>
      </p:sp>
      <p:sp>
        <p:nvSpPr>
          <p:cNvPr id="272" name="Google Shape;272;p20"/>
          <p:cNvSpPr/>
          <p:nvPr/>
        </p:nvSpPr>
        <p:spPr>
          <a:xfrm>
            <a:off x="365775" y="1394400"/>
            <a:ext cx="3931800" cy="362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65785" y="1385355"/>
            <a:ext cx="3931800" cy="54900"/>
          </a:xfrm>
          <a:prstGeom prst="rect">
            <a:avLst/>
          </a:prstGeom>
          <a:solidFill>
            <a:srgbClr val="5FA7EC"/>
          </a:solidFill>
          <a:ln cap="flat" cmpd="sng" w="12700">
            <a:solidFill>
              <a:srgbClr val="5FA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02945" y="1485845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Notebook 1 </a:t>
            </a:r>
            <a:r>
              <a:rPr b="1" lang="es-419" sz="1200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|</a:t>
            </a:r>
            <a:r>
              <a:rPr b="1" i="0" lang="es-419" sz="12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 TF-IDF + LinearSVC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502945" y="1943045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8C8C"/>
              </a:buClr>
              <a:buSzPts val="4600"/>
              <a:buFont typeface="Calibri"/>
              <a:buNone/>
            </a:pPr>
            <a:r>
              <a:rPr b="1" i="0" lang="es-419" sz="4600" u="none" cap="none" strike="noStrike">
                <a:solidFill>
                  <a:srgbClr val="1A8C8C"/>
                </a:solidFill>
                <a:latin typeface="Raleway"/>
                <a:ea typeface="Raleway"/>
                <a:cs typeface="Raleway"/>
                <a:sym typeface="Raleway"/>
              </a:rPr>
              <a:t>96.67%</a:t>
            </a:r>
            <a:endParaRPr i="0" sz="4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02945" y="281172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5-fold CV accuracy ± 0.27%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48665" y="3223205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Runtime: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1920265" y="3223205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&lt; 30s on CPU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48665" y="3652973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GPU: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1920265" y="3652973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Not required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48665" y="4082741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Interpretable: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920265" y="4082741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Yes — coef inspection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48665" y="4512509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Env: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1920265" y="4512509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Local / Jupyter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754900" y="1394400"/>
            <a:ext cx="4023300" cy="362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754905" y="1385355"/>
            <a:ext cx="4023300" cy="54900"/>
          </a:xfrm>
          <a:prstGeom prst="rect">
            <a:avLst/>
          </a:prstGeom>
          <a:solidFill>
            <a:srgbClr val="7F77DD"/>
          </a:solidFill>
          <a:ln cap="flat" cmpd="sng" w="12700">
            <a:solidFill>
              <a:srgbClr val="7F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892065" y="1485845"/>
            <a:ext cx="374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s-419" sz="12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Notebook 2 </a:t>
            </a:r>
            <a:r>
              <a:rPr b="1" lang="es-419" sz="1200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| </a:t>
            </a:r>
            <a:r>
              <a:rPr b="1" i="0" lang="es-419" sz="12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DistilBERT fine-tuned</a:t>
            </a:r>
            <a:endParaRPr i="0" sz="12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892065" y="1943045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7DD"/>
              </a:buClr>
              <a:buSzPts val="4600"/>
              <a:buFont typeface="Calibri"/>
              <a:buNone/>
            </a:pPr>
            <a:r>
              <a:rPr b="1" i="0" lang="es-419" sz="4600" u="none" cap="none" strike="noStrike">
                <a:solidFill>
                  <a:srgbClr val="7F77DD"/>
                </a:solidFill>
                <a:latin typeface="Raleway"/>
                <a:ea typeface="Raleway"/>
                <a:cs typeface="Raleway"/>
                <a:sym typeface="Raleway"/>
              </a:rPr>
              <a:t>98.19%</a:t>
            </a:r>
            <a:endParaRPr i="0" sz="4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892065" y="2811725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validation accuracy · epoch 2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4937785" y="3223205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Runtime: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309385" y="3223205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~7 min on Colab T4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937785" y="3652973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GPU: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309385" y="3652973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Required (free T4)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937785" y="4082741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Interpretable: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6309385" y="4082741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Black-box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4937785" y="4512509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4"/>
              </a:buClr>
              <a:buSzPts val="1100"/>
              <a:buFont typeface="Calibri"/>
              <a:buNone/>
            </a:pPr>
            <a:r>
              <a:rPr i="0" lang="es-419" sz="1100" u="none" cap="none" strike="noStrike">
                <a:solidFill>
                  <a:srgbClr val="8BA3B4"/>
                </a:solidFill>
                <a:latin typeface="Raleway"/>
                <a:ea typeface="Raleway"/>
                <a:cs typeface="Raleway"/>
                <a:sym typeface="Raleway"/>
              </a:rPr>
              <a:t>Env: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6309385" y="4512509"/>
            <a:ext cx="233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1100"/>
              <a:buFont typeface="Calibri"/>
              <a:buNone/>
            </a:pPr>
            <a:r>
              <a:rPr b="1" i="0" lang="es-419" sz="1100" u="none" cap="none" strike="noStrike">
                <a:solidFill>
                  <a:srgbClr val="1B2A3B"/>
                </a:solidFill>
                <a:latin typeface="Raleway"/>
                <a:ea typeface="Raleway"/>
                <a:cs typeface="Raleway"/>
                <a:sym typeface="Raleway"/>
              </a:rPr>
              <a:t>Google Colab</a:t>
            </a:r>
            <a:endParaRPr i="0" sz="11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4160545" y="2217365"/>
            <a:ext cx="822900" cy="502800"/>
          </a:xfrm>
          <a:prstGeom prst="roundRect">
            <a:avLst>
              <a:gd fmla="val 21818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4160545" y="2227065"/>
            <a:ext cx="82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s-419" sz="1000" u="none" cap="none" strike="noStrike">
                <a:solidFill>
                  <a:srgbClr val="0D1B2A"/>
                </a:solidFill>
                <a:latin typeface="Raleway"/>
                <a:ea typeface="Raleway"/>
                <a:cs typeface="Raleway"/>
                <a:sym typeface="Raleway"/>
              </a:rPr>
              <a:t>+1.52pp</a:t>
            </a:r>
            <a:endParaRPr i="0" sz="10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